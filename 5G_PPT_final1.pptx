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531" r:id="rId2"/>
    <p:sldId id="289" r:id="rId3"/>
    <p:sldId id="292" r:id="rId4"/>
    <p:sldId id="533" r:id="rId5"/>
    <p:sldId id="535" r:id="rId6"/>
    <p:sldId id="294" r:id="rId7"/>
    <p:sldId id="534" r:id="rId8"/>
    <p:sldId id="536" r:id="rId9"/>
    <p:sldId id="298" r:id="rId10"/>
    <p:sldId id="537" r:id="rId11"/>
    <p:sldId id="539" r:id="rId12"/>
    <p:sldId id="540" r:id="rId13"/>
    <p:sldId id="541" r:id="rId14"/>
    <p:sldId id="542" r:id="rId15"/>
    <p:sldId id="543" r:id="rId16"/>
    <p:sldId id="544" r:id="rId17"/>
    <p:sldId id="546" r:id="rId18"/>
    <p:sldId id="551" r:id="rId19"/>
    <p:sldId id="547" r:id="rId20"/>
    <p:sldId id="548" r:id="rId21"/>
    <p:sldId id="552" r:id="rId22"/>
    <p:sldId id="549" r:id="rId23"/>
    <p:sldId id="553" r:id="rId24"/>
    <p:sldId id="550" r:id="rId25"/>
    <p:sldId id="554" r:id="rId26"/>
    <p:sldId id="555" r:id="rId27"/>
    <p:sldId id="556" r:id="rId28"/>
    <p:sldId id="558" r:id="rId29"/>
    <p:sldId id="301" r:id="rId30"/>
  </p:sldIdLst>
  <p:sldSz cx="12192000" cy="6858000"/>
  <p:notesSz cx="6858000" cy="9144000"/>
  <p:embeddedFontLst>
    <p:embeddedFont>
      <p:font typeface="Aharoni" panose="02010803020104030203" pitchFamily="2" charset="-79"/>
      <p:bold r:id="rId33"/>
    </p:embeddedFont>
    <p:embeddedFont>
      <p:font typeface="Arial Black" panose="020B0A04020102020204" pitchFamily="34" charset="0"/>
      <p:bold r:id="rId34"/>
    </p:embeddedFont>
    <p:embeddedFont>
      <p:font typeface="Book Antiqua" panose="02040602050305030304" pitchFamily="18" charset="0"/>
      <p:regular r:id="rId35"/>
      <p:bold r:id="rId36"/>
      <p:italic r:id="rId37"/>
      <p:boldItalic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Montserrat Medium" panose="00000600000000000000" pitchFamily="2" charset="0"/>
      <p:regular r:id="rId43"/>
      <p:italic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  <p:embeddedFont>
      <p:font typeface="Plus Jakarta Sans" panose="020B0604020202020204" charset="0"/>
      <p:regular r:id="rId49"/>
      <p:bold r:id="rId50"/>
      <p:italic r:id="rId51"/>
      <p:boldItalic r:id="rId52"/>
    </p:embeddedFont>
    <p:embeddedFont>
      <p:font typeface="Verdana" panose="020B0604030504040204" pitchFamily="34" charset="0"/>
      <p:regular r:id="rId53"/>
      <p:bold r:id="rId54"/>
      <p:italic r:id="rId55"/>
      <p:boldItalic r:id="rId56"/>
    </p:embeddedFont>
  </p:embeddedFontLst>
  <p:custDataLst>
    <p:tags r:id="rId5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C4BBE92-EC57-4252-9543-ED7A47C96B3F}">
          <p14:sldIdLst>
            <p14:sldId id="531"/>
            <p14:sldId id="289"/>
            <p14:sldId id="292"/>
            <p14:sldId id="533"/>
            <p14:sldId id="535"/>
            <p14:sldId id="294"/>
            <p14:sldId id="534"/>
            <p14:sldId id="536"/>
            <p14:sldId id="298"/>
            <p14:sldId id="537"/>
            <p14:sldId id="539"/>
            <p14:sldId id="540"/>
            <p14:sldId id="541"/>
            <p14:sldId id="542"/>
            <p14:sldId id="543"/>
            <p14:sldId id="544"/>
            <p14:sldId id="546"/>
            <p14:sldId id="551"/>
            <p14:sldId id="547"/>
            <p14:sldId id="548"/>
            <p14:sldId id="552"/>
            <p14:sldId id="549"/>
            <p14:sldId id="553"/>
            <p14:sldId id="550"/>
            <p14:sldId id="554"/>
            <p14:sldId id="555"/>
            <p14:sldId id="556"/>
            <p14:sldId id="55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AF64F-611C-4164-97F5-EDB33ABA1751}" v="1" dt="2025-11-20T04:51:43.725"/>
  </p1510:revLst>
</p1510:revInfo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3" autoAdjust="0"/>
    <p:restoredTop sz="94660"/>
  </p:normalViewPr>
  <p:slideViewPr>
    <p:cSldViewPr snapToGrid="0">
      <p:cViewPr varScale="1">
        <p:scale>
          <a:sx n="74" d="100"/>
          <a:sy n="74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87" Type="http://customschemas.google.com/relationships/presentationmetadata" Target="meta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p" userId="a4d802c078e1efe5" providerId="LiveId" clId="{06EAF64F-611C-4164-97F5-EDB33ABA1751}"/>
    <pc:docChg chg="custSel addSld delSld modSld modSection">
      <pc:chgData name="hemanth p" userId="a4d802c078e1efe5" providerId="LiveId" clId="{06EAF64F-611C-4164-97F5-EDB33ABA1751}" dt="2025-11-20T04:53:43.279" v="6" actId="2696"/>
      <pc:docMkLst>
        <pc:docMk/>
      </pc:docMkLst>
      <pc:sldChg chg="addSp delSp modSp del mod">
        <pc:chgData name="hemanth p" userId="a4d802c078e1efe5" providerId="LiveId" clId="{06EAF64F-611C-4164-97F5-EDB33ABA1751}" dt="2025-11-20T04:53:43.279" v="6" actId="2696"/>
        <pc:sldMkLst>
          <pc:docMk/>
          <pc:sldMk cId="3049086756" sldId="557"/>
        </pc:sldMkLst>
        <pc:spChg chg="del">
          <ac:chgData name="hemanth p" userId="a4d802c078e1efe5" providerId="LiveId" clId="{06EAF64F-611C-4164-97F5-EDB33ABA1751}" dt="2025-11-20T04:53:38.226" v="5" actId="478"/>
          <ac:spMkLst>
            <pc:docMk/>
            <pc:sldMk cId="3049086756" sldId="557"/>
            <ac:spMk id="2" creationId="{9E42AE94-07C9-43D9-3523-3F1BA4ABB6A4}"/>
          </ac:spMkLst>
        </pc:spChg>
        <pc:spChg chg="add mod">
          <ac:chgData name="hemanth p" userId="a4d802c078e1efe5" providerId="LiveId" clId="{06EAF64F-611C-4164-97F5-EDB33ABA1751}" dt="2025-11-20T04:53:38.226" v="5" actId="478"/>
          <ac:spMkLst>
            <pc:docMk/>
            <pc:sldMk cId="3049086756" sldId="557"/>
            <ac:spMk id="6" creationId="{4E2F5C56-6FFE-5448-569C-05E0C4101350}"/>
          </ac:spMkLst>
        </pc:spChg>
      </pc:sldChg>
      <pc:sldChg chg="addSp delSp modSp new mod">
        <pc:chgData name="hemanth p" userId="a4d802c078e1efe5" providerId="LiveId" clId="{06EAF64F-611C-4164-97F5-EDB33ABA1751}" dt="2025-11-20T04:51:58.577" v="4" actId="1076"/>
        <pc:sldMkLst>
          <pc:docMk/>
          <pc:sldMk cId="3143257464" sldId="558"/>
        </pc:sldMkLst>
        <pc:spChg chg="del">
          <ac:chgData name="hemanth p" userId="a4d802c078e1efe5" providerId="LiveId" clId="{06EAF64F-611C-4164-97F5-EDB33ABA1751}" dt="2025-11-20T04:51:50.247" v="2" actId="478"/>
          <ac:spMkLst>
            <pc:docMk/>
            <pc:sldMk cId="3143257464" sldId="558"/>
            <ac:spMk id="2" creationId="{DC11AAC3-17EA-0977-7782-3109BF8DD42E}"/>
          </ac:spMkLst>
        </pc:spChg>
        <pc:spChg chg="del">
          <ac:chgData name="hemanth p" userId="a4d802c078e1efe5" providerId="LiveId" clId="{06EAF64F-611C-4164-97F5-EDB33ABA1751}" dt="2025-11-20T04:51:52.379" v="3" actId="478"/>
          <ac:spMkLst>
            <pc:docMk/>
            <pc:sldMk cId="3143257464" sldId="558"/>
            <ac:spMk id="3" creationId="{5FE0DF32-79E3-E98E-57B6-BE591D739785}"/>
          </ac:spMkLst>
        </pc:spChg>
        <pc:spChg chg="add mod">
          <ac:chgData name="hemanth p" userId="a4d802c078e1efe5" providerId="LiveId" clId="{06EAF64F-611C-4164-97F5-EDB33ABA1751}" dt="2025-11-20T04:51:58.577" v="4" actId="1076"/>
          <ac:spMkLst>
            <pc:docMk/>
            <pc:sldMk cId="3143257464" sldId="558"/>
            <ac:spMk id="5" creationId="{8B3930BD-8A17-7785-02C2-EE1B97956C64}"/>
          </ac:spMkLst>
        </pc:spChg>
        <pc:spChg chg="add mod">
          <ac:chgData name="hemanth p" userId="a4d802c078e1efe5" providerId="LiveId" clId="{06EAF64F-611C-4164-97F5-EDB33ABA1751}" dt="2025-11-20T04:51:43.718" v="1"/>
          <ac:spMkLst>
            <pc:docMk/>
            <pc:sldMk cId="3143257464" sldId="558"/>
            <ac:spMk id="6" creationId="{10E14423-88C6-7D29-FFB4-27CDC38C23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E058B08-58E6-9F0F-DF87-5DED49A0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3096C82-8867-D00C-A568-BCD7CB58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BAA3ED4A-F4DD-BC77-8BF5-0B54F9756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7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799714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90112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884b107a2_2_1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7884b107a2_2_1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27884b107a2_2_16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7884b107a2_0_17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700" cy="5040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5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85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p85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7884b107a2_0_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7884b107a2_0_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g27884b107a2_0_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27884b107a2_0_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27884b107a2_0_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com/books?hl=en&amp;lr=&amp;id=mtJKDwAAQBAJ&amp;oi=fnd&amp;pg=PP1&amp;dq=5g+NR+Physical+Layer+Simulation&amp;ots=RNmntP0Koq&amp;sig=bjbOmHwIA_GLEyWqGCjaEOIg0wU" TargetMode="External"/><Relationship Id="rId2" Type="http://schemas.openxmlformats.org/officeDocument/2006/relationships/hyperlink" Target="https://ieeexplore.ieee.org/abstract/document/9149444/?casa_token=Fe-FZp4lSyQAAAAA:d1sBWKAv31QKu-x2Yvx0bwhMetyZGJokaYAmwTPhK-bwI6rHIRzX7s95VFuCp3OEgmGY67XmZOA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-1235" y="7409"/>
            <a:ext cx="12193235" cy="67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2904067" y="3157752"/>
            <a:ext cx="6383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/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2904067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4" y="4504626"/>
            <a:ext cx="29269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C. Lakshmi Narayana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P. Hemanth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P. Hari Krishna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9322056" y="5040405"/>
            <a:ext cx="292694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Dr. T. Nagarjuna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Dr. Kshitij Shakya 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2494320" y="448863"/>
            <a:ext cx="666238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5G NEW RADIO PHYSICAL LAYER SIMULATION</a:t>
            </a:r>
            <a:endParaRPr lang="en-US" sz="2800" dirty="0"/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9812887" y="141274"/>
            <a:ext cx="2245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Review-I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189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189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1106424" y="308388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 and Goals</a:t>
            </a:r>
            <a:endParaRPr dirty="0"/>
          </a:p>
        </p:txBody>
      </p:sp>
      <p:sp>
        <p:nvSpPr>
          <p:cNvPr id="3" name="Google Shape;120;p76">
            <a:extLst>
              <a:ext uri="{FF2B5EF4-FFF2-40B4-BE49-F238E27FC236}">
                <a16:creationId xmlns:a16="http://schemas.microsoft.com/office/drawing/2014/main" id="{CA08A1E2-29B3-F3D5-48A9-5D1EA6629717}"/>
              </a:ext>
            </a:extLst>
          </p:cNvPr>
          <p:cNvSpPr/>
          <p:nvPr/>
        </p:nvSpPr>
        <p:spPr>
          <a:xfrm>
            <a:off x="550606" y="76590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Objective 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0;p76">
            <a:extLst>
              <a:ext uri="{FF2B5EF4-FFF2-40B4-BE49-F238E27FC236}">
                <a16:creationId xmlns:a16="http://schemas.microsoft.com/office/drawing/2014/main" id="{17BF0AA4-CB04-F194-9E07-5F430F49129E}"/>
              </a:ext>
            </a:extLst>
          </p:cNvPr>
          <p:cNvSpPr/>
          <p:nvPr/>
        </p:nvSpPr>
        <p:spPr>
          <a:xfrm>
            <a:off x="550606" y="3429000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Goals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11477-E886-23E8-64BD-4CADAD76379A}"/>
              </a:ext>
            </a:extLst>
          </p:cNvPr>
          <p:cNvSpPr txBox="1"/>
          <p:nvPr/>
        </p:nvSpPr>
        <p:spPr>
          <a:xfrm>
            <a:off x="1000125" y="1268361"/>
            <a:ext cx="1094942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primary objective is to design and implement a 5G New Radio  physical layer simulation.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 evaluate system performance under various channel conditions and validate the efficiency of signal processing algorithms before hardware implementation.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11B122E-2407-B490-AE4E-31BAABE9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82" y="4045441"/>
            <a:ext cx="111421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complete end-to-end 5G physical layer simulator in MATLAB.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CEEDCF5F-E396-4F6C-D164-67C538B7E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37" y="4571594"/>
            <a:ext cx="1139237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and visualize key performance metrics such as Bit Error Rate (BER) and throughput.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D277163-DDF4-8A7D-727E-9DC95265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C6ECFB60-4922-9557-3C5E-7FA842E8B16A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Gant Chart  - Milestones and Activities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41AC6-CE23-A38B-BD86-17E34844F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1000125" y="232275"/>
            <a:ext cx="10492440" cy="975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(Clearly mention milestone for objectives under each reviews)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FFD98-99FF-9591-971B-DFC1C4CA7511}"/>
              </a:ext>
            </a:extLst>
          </p:cNvPr>
          <p:cNvSpPr txBox="1"/>
          <p:nvPr/>
        </p:nvSpPr>
        <p:spPr>
          <a:xfrm>
            <a:off x="664143" y="1491917"/>
            <a:ext cx="4572000" cy="4297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0AC651-CF1A-39A2-37F7-531D9F75B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09" y="1299411"/>
            <a:ext cx="10733100" cy="477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1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36359F-3D56-0BC4-18F3-10E148F9B0E8}"/>
              </a:ext>
            </a:extLst>
          </p:cNvPr>
          <p:cNvSpPr txBox="1"/>
          <p:nvPr/>
        </p:nvSpPr>
        <p:spPr>
          <a:xfrm>
            <a:off x="1432560" y="664143"/>
            <a:ext cx="9326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Project Plan (Clearly mention milestone for objectives under each reviews)</a:t>
            </a:r>
          </a:p>
          <a:p>
            <a:pPr algn="ctr"/>
            <a:r>
              <a:rPr lang="en-US" sz="1200" dirty="0">
                <a:latin typeface="Montserrat Medium" panose="00000600000000000000" pitchFamily="2" charset="0"/>
                <a:sym typeface="Montserrat"/>
              </a:rPr>
              <a:t>Gant Chart – Milestones and Achievements</a:t>
            </a:r>
            <a:endParaRPr lang="en-US" sz="1200" dirty="0">
              <a:latin typeface="Montserrat Medium" panose="00000600000000000000" pitchFamily="2" charset="0"/>
            </a:endParaRPr>
          </a:p>
          <a:p>
            <a:pPr algn="ctr"/>
            <a:endParaRPr lang="en-IN" sz="2400" b="1" dirty="0">
              <a:latin typeface="Montserrat" panose="00000500000000000000" pitchFamily="2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F29545F-0547-03B0-54B9-95936C05C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036968"/>
              </p:ext>
            </p:extLst>
          </p:nvPr>
        </p:nvGraphicFramePr>
        <p:xfrm>
          <a:off x="675409" y="1767906"/>
          <a:ext cx="10724429" cy="3467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13390" imgH="1479651" progId="Excel.Sheet.12">
                  <p:embed/>
                </p:oleObj>
              </mc:Choice>
              <mc:Fallback>
                <p:oleObj name="Worksheet" r:id="rId2" imgW="6813390" imgH="147965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F29545F-0547-03B0-54B9-95936C05C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5409" y="1767906"/>
                        <a:ext cx="10724429" cy="3467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28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B169DF-9383-EDE6-F1CB-EAB38823B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21015"/>
              </p:ext>
            </p:extLst>
          </p:nvPr>
        </p:nvGraphicFramePr>
        <p:xfrm>
          <a:off x="963561" y="1258529"/>
          <a:ext cx="10536381" cy="4749953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3512127">
                  <a:extLst>
                    <a:ext uri="{9D8B030D-6E8A-4147-A177-3AD203B41FA5}">
                      <a16:colId xmlns:a16="http://schemas.microsoft.com/office/drawing/2014/main" val="1153603378"/>
                    </a:ext>
                  </a:extLst>
                </a:gridCol>
                <a:gridCol w="3512127">
                  <a:extLst>
                    <a:ext uri="{9D8B030D-6E8A-4147-A177-3AD203B41FA5}">
                      <a16:colId xmlns:a16="http://schemas.microsoft.com/office/drawing/2014/main" val="4108233619"/>
                    </a:ext>
                  </a:extLst>
                </a:gridCol>
                <a:gridCol w="3512127">
                  <a:extLst>
                    <a:ext uri="{9D8B030D-6E8A-4147-A177-3AD203B41FA5}">
                      <a16:colId xmlns:a16="http://schemas.microsoft.com/office/drawing/2014/main" val="364203648"/>
                    </a:ext>
                  </a:extLst>
                </a:gridCol>
              </a:tblGrid>
              <a:tr h="513233">
                <a:tc>
                  <a:txBody>
                    <a:bodyPr/>
                    <a:lstStyle/>
                    <a:p>
                      <a:r>
                        <a:rPr lang="en-US" b="1" dirty="0"/>
                        <a:t>Author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Research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Research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256497"/>
                  </a:ext>
                </a:extLst>
              </a:tr>
              <a:tr h="701387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Morais, D. H. (2024). 5G NR overview and physical layer. In </a:t>
                      </a:r>
                      <a:r>
                        <a:rPr lang="en-US" sz="1400" b="0" i="1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Key 5g/5g-advanced physical layer technologies: Enabling mobile and fixed wireless access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(pp. 233-321). Cham: Springer International Publishing.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Provides a structured overview of 5G NR physical layer functions (channels, signals, scheduling, HARQ, power control) and their role in achieving high data rates and low latency.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Highlights the evolution of 5G through Releases 15–19, offering insights into both current capabilities and future enhancements.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Focuses on high-level architecture and procedures without detailed technical algorithms or performance analysis.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Relies mainly on 3GPP specifications, with limited discussion of real-world deployment challenges or empirical validation.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72729"/>
                  </a:ext>
                </a:extLst>
              </a:tr>
              <a:tr h="701387">
                <a:tc>
                  <a:txBody>
                    <a:bodyPr/>
                    <a:lstStyle/>
                    <a:p>
                      <a:r>
                        <a:rPr lang="en-US" dirty="0" err="1"/>
                        <a:t>Ssimbwa</a:t>
                      </a:r>
                      <a:r>
                        <a:rPr lang="en-US" dirty="0"/>
                        <a:t>, J., Yoon, S. H., Lee, Y., &amp; Ko, Y. C. (2024). Towards 5G-advanced NR-unlicensed systems: Physical layer design and performance. Journal of Communications and Networks, 26(2), 207-214.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provides a detailed performance analysis of specific NR-U scheduling configurations, highlighting the trade-offs of frame structure, HARQ, and RLC parameters. It presents quantitative evidence through simulation that demonstrates the direct performance impact of the chosen NR-U design configurations.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findings are exclusively based on simulations and have not been validated in a real-world hardware or network environment.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research scope is limited to a select subset of parameters, omitting other critical factors like mobility and dynamic interference.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977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9DE5D09-FDEA-398A-AB63-9536194C009B}"/>
              </a:ext>
            </a:extLst>
          </p:cNvPr>
          <p:cNvSpPr txBox="1"/>
          <p:nvPr/>
        </p:nvSpPr>
        <p:spPr>
          <a:xfrm>
            <a:off x="963561" y="-11173"/>
            <a:ext cx="363793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r>
              <a:rPr lang="en-US" sz="2800" b="1" dirty="0"/>
              <a:t>Literature Survey</a:t>
            </a:r>
          </a:p>
          <a:p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Publications :</a:t>
            </a:r>
            <a:endParaRPr lang="en-US" sz="2000" dirty="0">
              <a:effectLst/>
            </a:endParaRP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1367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834959" y="203056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50888-D49D-4BA8-E93A-5543EF69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35571"/>
              </p:ext>
            </p:extLst>
          </p:nvPr>
        </p:nvGraphicFramePr>
        <p:xfrm>
          <a:off x="235975" y="1209368"/>
          <a:ext cx="11713569" cy="5035568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3904523">
                  <a:extLst>
                    <a:ext uri="{9D8B030D-6E8A-4147-A177-3AD203B41FA5}">
                      <a16:colId xmlns:a16="http://schemas.microsoft.com/office/drawing/2014/main" val="2956269712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1355810330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1369330424"/>
                    </a:ext>
                  </a:extLst>
                </a:gridCol>
              </a:tblGrid>
              <a:tr h="27020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Rossato, F. (2024). Simulation Study, Design and Implementation of 5G NR Layer-2 Protocols for Non-Terrestrial Networks.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Developed new 5G NR Layer-2 protocols (HARQ and scheduling) for NTNs, improving reliability and throughput.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Enhanced the ns-3 NTN module to handle high propagation delays and reduce unnecessary retransmissions.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Tested only through simulations, not on real NTN hardware or testbeds.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Other protocol stack challenges in NTNs (handover, synchronization) were not addressed.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355209"/>
                  </a:ext>
                </a:extLst>
              </a:tr>
              <a:tr h="233352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Belesaca</a:t>
                      </a:r>
                      <a:r>
                        <a:rPr lang="en-US" dirty="0"/>
                        <a:t>, J. D., Vazquez-Rodas, A., Urquiza-Aguiar, L. F., &amp; Vega-Sánchez, J. D. (2024). An in-depth assessment of the physical layer performance in the proposed B5G framework. Ad Hoc Networks, 164, 103609.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provides a comparative performance analysis of the 5G using ideal, practical, and novel CNN-based channel estimation techniques. 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identifies the specific physical layer elements that most significantly impact system performance, guiding future B5G optimization strategies.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conclusions are derived entirely from simulations and lack validation from real-world hardware or live network deployments.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analysis is focused exclusively on the downlink (PDSCH) and does not evaluate the performance of the uplink channel.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5361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B2AD18-4D5A-FD27-53A4-52C11A2BE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30774"/>
              </p:ext>
            </p:extLst>
          </p:nvPr>
        </p:nvGraphicFramePr>
        <p:xfrm>
          <a:off x="235975" y="820883"/>
          <a:ext cx="11713569" cy="398317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3904523">
                  <a:extLst>
                    <a:ext uri="{9D8B030D-6E8A-4147-A177-3AD203B41FA5}">
                      <a16:colId xmlns:a16="http://schemas.microsoft.com/office/drawing/2014/main" val="3602560296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948926268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3994332655"/>
                    </a:ext>
                  </a:extLst>
                </a:gridCol>
              </a:tblGrid>
              <a:tr h="39831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Author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Research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Research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840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972A96-A687-2D6A-3345-A295BB94FA39}"/>
              </a:ext>
            </a:extLst>
          </p:cNvPr>
          <p:cNvSpPr txBox="1"/>
          <p:nvPr/>
        </p:nvSpPr>
        <p:spPr>
          <a:xfrm>
            <a:off x="791362" y="1559820"/>
            <a:ext cx="108059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Resources – Whitepaper| Application Notes |  Datasheet| Others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https://devopedia.org/5g-nr-phy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Existing Implementations – Products| Opensource| GitHub etc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GitHub : https://github.com/kir812/pyPhyNR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F9277-97E2-FB4C-354D-F41FBED955C9}"/>
              </a:ext>
            </a:extLst>
          </p:cNvPr>
          <p:cNvSpPr txBox="1"/>
          <p:nvPr/>
        </p:nvSpPr>
        <p:spPr>
          <a:xfrm>
            <a:off x="865239" y="914400"/>
            <a:ext cx="3372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Publications </a:t>
            </a:r>
            <a:endParaRPr lang="en-US" sz="2800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4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1E888ACA-22C6-63B0-0BA2-180709E6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987"/>
            <a:ext cx="12192000" cy="4010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739DB1-DBAA-A645-237D-3AF4A8C3A6A0}"/>
              </a:ext>
            </a:extLst>
          </p:cNvPr>
          <p:cNvSpPr txBox="1"/>
          <p:nvPr/>
        </p:nvSpPr>
        <p:spPr>
          <a:xfrm>
            <a:off x="4552335" y="369766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5G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58679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3F8-9556-4270-5B9D-9550237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A8DE1-C914-AC92-41A9-F53CE645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B20A693-DAF6-90F8-E452-0AF12BA5AC4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5G Architecture Applications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72503-8468-659A-979E-1EDCC201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26" y="726132"/>
            <a:ext cx="11621747" cy="556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200409-EF49-CEFF-182E-1539FB3E9F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28DD56EA-D1A2-8933-1C4E-E802FDCA9AF3}"/>
              </a:ext>
            </a:extLst>
          </p:cNvPr>
          <p:cNvSpPr>
            <a:spLocks noGrp="1" noChangeAspect="1" noChangeArrowheads="1"/>
          </p:cNvSpPr>
          <p:nvPr>
            <p:ph type="pic" idx="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27F05F-65D5-2269-CA91-C3D7E0B6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81" y="365760"/>
            <a:ext cx="11293241" cy="561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1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3B1E-B05F-E77E-1939-471B47D8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5G NR parameters: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6F8B7-5741-73D9-82DC-1E08D95C6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14322"/>
            <a:ext cx="11360700" cy="453409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1. Carrier frequency (sub-6 or </a:t>
            </a:r>
            <a:r>
              <a:rPr lang="en-IN" sz="2800" dirty="0" err="1">
                <a:latin typeface="Book Antiqua" panose="02040602050305030304" pitchFamily="18" charset="0"/>
              </a:rPr>
              <a:t>mmWave</a:t>
            </a:r>
            <a:r>
              <a:rPr lang="en-IN" sz="2800" dirty="0">
                <a:latin typeface="Book Antiqua" panose="02040602050305030304" pitchFamily="18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2.Subcarrier spacing (15–240 kHz numerology)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3.Type of channel coding (LDPC)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4.OFDM parameters (FFT size, CP length, slot duration)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5CD3B-C2A3-7649-A516-A4DFF6B922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6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9B88-978D-6889-EA9F-8B5FF787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Build channel propagation models: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5039-2B0B-7A5E-D309-01DED609B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600" dirty="0">
                <a:latin typeface="Book Antiqua" panose="02040602050305030304" pitchFamily="18" charset="0"/>
              </a:rPr>
              <a:t>3GPP spatial channel model (SCM)</a:t>
            </a:r>
          </a:p>
          <a:p>
            <a:pPr>
              <a:lnSpc>
                <a:spcPct val="200000"/>
              </a:lnSpc>
            </a:pPr>
            <a:r>
              <a:rPr lang="en-US" sz="3600" dirty="0" err="1">
                <a:latin typeface="Book Antiqua" panose="02040602050305030304" pitchFamily="18" charset="0"/>
              </a:rPr>
              <a:t>mmWave</a:t>
            </a:r>
            <a:r>
              <a:rPr lang="en-US" sz="3600" dirty="0">
                <a:latin typeface="Book Antiqua" panose="02040602050305030304" pitchFamily="18" charset="0"/>
              </a:rPr>
              <a:t> models with blockage</a:t>
            </a:r>
            <a:endParaRPr lang="en-IN" sz="36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3079-8D28-7CFB-4E08-C40437958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5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D58F-8CB4-C56F-8DCA-7F8DAB10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Implementing the transmitter chain: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79D9A-2D48-D9B5-A44E-348C7F151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Book Antiqua" panose="02040602050305030304" pitchFamily="18" charset="0"/>
              </a:rPr>
              <a:t>Data generation(LDPC/Polar encoding)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Rate matching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Modulation (QPSK → 256QAM)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Resource grid mapping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DFT-s-OFDM or CP-OFDM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waveform 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64444-4350-0372-3948-ECA2A11A38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C046-2D6A-1D12-2268-99457707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Pass through the channel: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B3404-7FBA-19C3-D9E5-8170C3B2F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Book Antiqua" panose="02040602050305030304" pitchFamily="18" charset="0"/>
              </a:rPr>
              <a:t>The signal is transmitted through the selected channel models: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Book Antiqua" panose="02040602050305030304" pitchFamily="18" charset="0"/>
              </a:rPr>
              <a:t>Time-varying multipath channel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Book Antiqua" panose="02040602050305030304" pitchFamily="18" charset="0"/>
              </a:rPr>
              <a:t>Frequency-selective fading</a:t>
            </a:r>
            <a:endParaRPr lang="en-IN" sz="28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C9EEC-3604-353D-0064-61D0D277E8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5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F751-7B15-2240-5E7F-F98944C8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Arial Black" panose="020B0A04020102020204" pitchFamily="34" charset="0"/>
              </a:rPr>
              <a:t>Implementing the receiver chain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9CCA8-D11D-89F1-91A0-FA8B18757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The receive processing mirrors the transmitter: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RF impairments correction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Synchronization (time/frequency offset estimation)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Demodulation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LDPC/Polar decoding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CRC check &amp; BLER 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07EF1-183B-E100-E505-80B1A020C3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98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CF44-9E6A-1BF3-2F66-DC30194F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Arial Black" panose="020B0A04020102020204" pitchFamily="34" charset="0"/>
              </a:rPr>
              <a:t>Evaluating system performance and </a:t>
            </a:r>
            <a:r>
              <a:rPr lang="en-US" sz="2400" dirty="0"/>
              <a:t>Important Prerequisites </a:t>
            </a:r>
            <a:r>
              <a:rPr lang="en-US" sz="2400" dirty="0">
                <a:latin typeface="Arial Black" panose="020B0A04020102020204" pitchFamily="34" charset="0"/>
              </a:rPr>
              <a:t>/ Libraries</a:t>
            </a:r>
            <a:r>
              <a:rPr lang="en-IN" sz="2400" dirty="0">
                <a:latin typeface="Arial Black" panose="020B0A04020102020204" pitchFamily="34" charset="0"/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99574-34FF-A220-2F48-FA74E3E37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Book Antiqua" panose="02040602050305030304" pitchFamily="18" charset="0"/>
              </a:rPr>
              <a:t>BLER vs SNR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Book Antiqua" panose="02040602050305030304" pitchFamily="18" charset="0"/>
              </a:rPr>
              <a:t>Throughput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anose="02040602050305030304" pitchFamily="18" charset="0"/>
              </a:rPr>
              <a:t>MATLAB 5G Toolbox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anose="02040602050305030304" pitchFamily="18" charset="0"/>
              </a:rPr>
              <a:t>pyPhyNR python toolkit(downloaded from GitHub)</a:t>
            </a:r>
            <a:endParaRPr lang="en-IN" sz="2400" dirty="0">
              <a:latin typeface="Book Antiqua" panose="02040602050305030304" pitchFamily="18" charset="0"/>
            </a:endParaRPr>
          </a:p>
          <a:p>
            <a:pPr>
              <a:lnSpc>
                <a:spcPct val="250000"/>
              </a:lnSpc>
            </a:pPr>
            <a:endParaRPr lang="en-IN" sz="24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F177-4EC8-3702-00B5-D96F165721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1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19D5-2407-17AD-1EAD-C48206DC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02749"/>
            <a:ext cx="11360700" cy="7635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 Black" panose="020B0A04020102020204" pitchFamily="34" charset="0"/>
              </a:rPr>
              <a:t>Results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156C7-77D1-52DC-F3C1-E2A5CCF34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32F30-97C0-C100-5DFC-C3E4F1B10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C52D6-B0E5-9C69-B842-A361DA480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886643"/>
            <a:ext cx="11541715" cy="541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92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27095-3F85-7490-4ADD-28193915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372862"/>
            <a:ext cx="11360700" cy="571897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This figure visualizes the </a:t>
            </a:r>
            <a:r>
              <a:rPr lang="en-US" sz="2000" b="1" dirty="0">
                <a:latin typeface="Aptos Display" panose="020B0004020202020204" pitchFamily="34" charset="0"/>
              </a:rPr>
              <a:t>time–frequency grid</a:t>
            </a:r>
            <a:r>
              <a:rPr lang="en-US" sz="2000" dirty="0">
                <a:latin typeface="Aptos Display" panose="020B0004020202020204" pitchFamily="34" charset="0"/>
              </a:rPr>
              <a:t> used by the 5G New Radio downlink physical layer. Each cell in the grid corresponds to one </a:t>
            </a:r>
            <a:r>
              <a:rPr lang="en-US" sz="2000" b="1" dirty="0">
                <a:latin typeface="Aptos Display" panose="020B0004020202020204" pitchFamily="34" charset="0"/>
              </a:rPr>
              <a:t>Resource Element (RE)</a:t>
            </a:r>
            <a:r>
              <a:rPr lang="en-US" sz="2000" dirty="0">
                <a:latin typeface="Aptos Display" panose="020B0004020202020204" pitchFamily="34" charset="0"/>
              </a:rPr>
              <a:t>, which is one subcarrier in one OFDM symbol.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X-axis</a:t>
            </a:r>
            <a:r>
              <a:rPr lang="en-US" sz="2000" dirty="0">
                <a:latin typeface="Aptos Display" panose="020B0004020202020204" pitchFamily="34" charset="0"/>
              </a:rPr>
              <a:t> = OFDM symbols in time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Y-axis</a:t>
            </a:r>
            <a:r>
              <a:rPr lang="en-US" sz="2000" dirty="0">
                <a:latin typeface="Aptos Display" panose="020B0004020202020204" pitchFamily="34" charset="0"/>
              </a:rPr>
              <a:t> = Subcarriers (grouped as RBs) in frequency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Total RBs = 51</a:t>
            </a:r>
            <a:r>
              <a:rPr lang="en-US" sz="2000" dirty="0">
                <a:latin typeface="Aptos Display" panose="020B0004020202020204" pitchFamily="34" charset="0"/>
              </a:rPr>
              <a:t>, </a:t>
            </a:r>
            <a:r>
              <a:rPr lang="en-US" sz="2000" b="1" dirty="0">
                <a:latin typeface="Aptos Display" panose="020B0004020202020204" pitchFamily="34" charset="0"/>
              </a:rPr>
              <a:t>SCS = 30 kHz</a:t>
            </a:r>
            <a:r>
              <a:rPr lang="en-US" sz="2000" dirty="0">
                <a:latin typeface="Aptos Display" panose="020B0004020202020204" pitchFamily="34" charset="0"/>
              </a:rPr>
              <a:t>, </a:t>
            </a:r>
            <a:r>
              <a:rPr lang="en-US" sz="2000" b="1" dirty="0">
                <a:latin typeface="Aptos Display" panose="020B0004020202020204" pitchFamily="34" charset="0"/>
              </a:rPr>
              <a:t>numerology μ = 1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Each color corresponds to a specific </a:t>
            </a:r>
            <a:r>
              <a:rPr lang="en-US" sz="2000" b="1" dirty="0">
                <a:latin typeface="Aptos Display" panose="020B0004020202020204" pitchFamily="34" charset="0"/>
              </a:rPr>
              <a:t>physical channel or signal</a:t>
            </a:r>
            <a:r>
              <a:rPr lang="en-US" sz="2000" dirty="0">
                <a:latin typeface="Aptos Display" panose="020B0004020202020204" pitchFamily="34" charset="0"/>
              </a:rPr>
              <a:t> defined by 3GPP. These represent the </a:t>
            </a:r>
            <a:r>
              <a:rPr lang="en-US" sz="2000" i="1" dirty="0">
                <a:latin typeface="Aptos Display" panose="020B0004020202020204" pitchFamily="34" charset="0"/>
              </a:rPr>
              <a:t>actual transmission</a:t>
            </a:r>
            <a:r>
              <a:rPr lang="en-US" sz="2000" dirty="0">
                <a:latin typeface="Aptos Display" panose="020B0004020202020204" pitchFamily="34" charset="0"/>
              </a:rPr>
              <a:t> in those </a:t>
            </a:r>
            <a:r>
              <a:rPr lang="en-US" sz="2000" dirty="0" err="1">
                <a:latin typeface="Aptos Display" panose="020B0004020202020204" pitchFamily="34" charset="0"/>
              </a:rPr>
              <a:t>REs.</a:t>
            </a: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b="1" dirty="0">
                <a:latin typeface="Aptos Display" panose="020B0004020202020204" pitchFamily="34" charset="0"/>
              </a:rPr>
              <a:t>Blue — PDSCH (Physical Downlink Shared Channel)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These are the </a:t>
            </a:r>
            <a:r>
              <a:rPr lang="en-US" sz="2000" b="1" dirty="0">
                <a:latin typeface="Aptos Display" panose="020B0004020202020204" pitchFamily="34" charset="0"/>
              </a:rPr>
              <a:t>data-bearing </a:t>
            </a:r>
            <a:r>
              <a:rPr lang="en-US" sz="2000" b="1" dirty="0" err="1">
                <a:latin typeface="Aptos Display" panose="020B0004020202020204" pitchFamily="34" charset="0"/>
              </a:rPr>
              <a:t>REs</a:t>
            </a:r>
            <a:r>
              <a:rPr lang="en-US" sz="2000" dirty="0" err="1">
                <a:latin typeface="Aptos Display" panose="020B0004020202020204" pitchFamily="34" charset="0"/>
              </a:rPr>
              <a:t>.</a:t>
            </a: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The PDSCH carries user data or higher-layer messages (e.g., RRC, NAS, paging).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The large blue sections on the left and right are PDSCH transmissions scheduled in two time windows.</a:t>
            </a:r>
          </a:p>
          <a:p>
            <a:pPr marL="114300" indent="0">
              <a:buNone/>
            </a:pP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1800" b="1" dirty="0">
                <a:latin typeface="Aptos Display" panose="020B0004020202020204" pitchFamily="34" charset="0"/>
              </a:rPr>
              <a:t>Significance:</a:t>
            </a:r>
            <a:br>
              <a:rPr lang="en-US" dirty="0"/>
            </a:br>
            <a:r>
              <a:rPr lang="en-US" sz="2000" dirty="0">
                <a:latin typeface="Aptos Display" panose="020B0004020202020204" pitchFamily="34" charset="0"/>
              </a:rPr>
              <a:t>It shows that your scheduler allocated downlink data bursts at the beginning and end of the frame, leaving the middle part unused.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0078-8BE9-3010-5DE9-D9F6DE049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66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D2688-3C40-DF95-F8B4-1711A7BA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561"/>
          <a:stretch>
            <a:fillRect/>
          </a:stretch>
        </p:blipFill>
        <p:spPr>
          <a:xfrm>
            <a:off x="503711" y="204290"/>
            <a:ext cx="10972822" cy="33822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26BD93-7686-FD8E-BC3E-238741E0349B}"/>
              </a:ext>
            </a:extLst>
          </p:cNvPr>
          <p:cNvSpPr txBox="1"/>
          <p:nvPr/>
        </p:nvSpPr>
        <p:spPr>
          <a:xfrm>
            <a:off x="503711" y="3844031"/>
            <a:ext cx="110550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This graph shows the </a:t>
            </a:r>
            <a:r>
              <a:rPr lang="en-IN" sz="1800" b="1" dirty="0"/>
              <a:t>magnitude</a:t>
            </a:r>
            <a:r>
              <a:rPr lang="en-IN" sz="1800" dirty="0"/>
              <a:t> of the time-domain IQ samples produced after OFDM modulation. You’re essentially looking at the raw transmit waveform of your NR carrier over a 10-ms interval.</a:t>
            </a:r>
          </a:p>
          <a:p>
            <a:r>
              <a:rPr lang="en-IN" sz="1800" b="1" dirty="0"/>
              <a:t>X-axis</a:t>
            </a:r>
            <a:r>
              <a:rPr lang="en-IN" sz="1800" dirty="0"/>
              <a:t> → Time (</a:t>
            </a:r>
            <a:r>
              <a:rPr lang="en-IN" sz="1800" dirty="0" err="1"/>
              <a:t>ms</a:t>
            </a:r>
            <a:r>
              <a:rPr lang="en-IN" sz="1800" dirty="0"/>
              <a:t>)</a:t>
            </a:r>
          </a:p>
          <a:p>
            <a:r>
              <a:rPr lang="en-IN" sz="1800" b="1" dirty="0"/>
              <a:t>Y-axis</a:t>
            </a:r>
            <a:r>
              <a:rPr lang="en-IN" sz="1800" dirty="0"/>
              <a:t> → Signal magnitude (|I + </a:t>
            </a:r>
            <a:r>
              <a:rPr lang="en-IN" sz="1800" dirty="0" err="1"/>
              <a:t>jQ</a:t>
            </a:r>
            <a:r>
              <a:rPr lang="en-IN" sz="1800" dirty="0"/>
              <a:t>|)</a:t>
            </a:r>
          </a:p>
          <a:p>
            <a:r>
              <a:rPr lang="en-IN" sz="1800" b="1" dirty="0"/>
              <a:t>Blue filled region</a:t>
            </a:r>
            <a:r>
              <a:rPr lang="en-IN" sz="1800" dirty="0"/>
              <a:t> → Samples where the transmitter is active</a:t>
            </a:r>
          </a:p>
          <a:p>
            <a:r>
              <a:rPr lang="en-IN" sz="1800" b="1" dirty="0"/>
              <a:t>Flat zero region</a:t>
            </a:r>
            <a:r>
              <a:rPr lang="en-IN" sz="1800" dirty="0"/>
              <a:t> → Samples where nothing is transmitted</a:t>
            </a:r>
          </a:p>
          <a:p>
            <a:r>
              <a:rPr lang="en-US" sz="1800" dirty="0"/>
              <a:t>These chunks are the </a:t>
            </a:r>
            <a:r>
              <a:rPr lang="en-US" sz="1800" b="1" dirty="0"/>
              <a:t>actual transmitted OFDM symbols</a:t>
            </a:r>
            <a:r>
              <a:rPr lang="en-US" sz="1800" dirty="0"/>
              <a:t> that contain physical channels, such as:</a:t>
            </a:r>
          </a:p>
          <a:p>
            <a:r>
              <a:rPr lang="en-US" sz="1800" dirty="0"/>
              <a:t>✔ PDSCH (data)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67807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BA938-A0D5-4E90-50DF-528DDACA7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9" y="531790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23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C77985-B0E2-19A3-7867-8139654235A8}"/>
              </a:ext>
            </a:extLst>
          </p:cNvPr>
          <p:cNvSpPr txBox="1"/>
          <p:nvPr/>
        </p:nvSpPr>
        <p:spPr>
          <a:xfrm>
            <a:off x="514905" y="523783"/>
            <a:ext cx="1120361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plot shows the </a:t>
            </a:r>
            <a:r>
              <a:rPr lang="en-US" sz="1800" b="1" dirty="0"/>
              <a:t>power distribution of your 5G NR waveform across frequency</a:t>
            </a:r>
            <a:r>
              <a:rPr lang="en-US" sz="1800" dirty="0"/>
              <a:t> after OFDM modulation. It’s essentially the “spectrum” of your generated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X-axis</a:t>
            </a:r>
            <a:r>
              <a:rPr lang="en-US" sz="1800" dirty="0"/>
              <a:t> → Frequency (MHz)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Y-axis</a:t>
            </a:r>
            <a:r>
              <a:rPr lang="en-US" sz="1800" dirty="0"/>
              <a:t> → Power (dB)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Blue region</a:t>
            </a:r>
            <a:r>
              <a:rPr lang="en-US" sz="1800" dirty="0"/>
              <a:t> → Magnitude of the PSD across all subcarriers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Low-power dips and edges</a:t>
            </a:r>
            <a:r>
              <a:rPr lang="en-US" sz="1800" dirty="0"/>
              <a:t> → Subcarrier structure, resource usage, and OFDM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filled blue region is the </a:t>
            </a:r>
            <a:r>
              <a:rPr lang="en-US" sz="1800" b="1" dirty="0"/>
              <a:t>power spectral density</a:t>
            </a:r>
            <a:r>
              <a:rPr lang="en-US" sz="1800" dirty="0"/>
              <a:t> of your full downlink OFDM waveform. This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✔ All active PDSCH RBs</a:t>
            </a:r>
            <a:br>
              <a:rPr lang="en-US" sz="1800" dirty="0"/>
            </a:br>
            <a:r>
              <a:rPr lang="en-US" sz="1800" dirty="0"/>
              <a:t>✔ DMRS embedded inside them</a:t>
            </a:r>
            <a:br>
              <a:rPr lang="en-US" sz="1800" dirty="0"/>
            </a:br>
            <a:r>
              <a:rPr lang="en-US" sz="1800" dirty="0"/>
              <a:t>✔ Any reference signals</a:t>
            </a:r>
            <a:br>
              <a:rPr lang="en-US" sz="1800" dirty="0"/>
            </a:br>
            <a:r>
              <a:rPr lang="en-US" sz="1800" dirty="0"/>
              <a:t>✔ The effect of OFDM modulation, CP, and the sampling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reflects </a:t>
            </a:r>
            <a:r>
              <a:rPr lang="en-US" sz="1800" b="1" dirty="0"/>
              <a:t>how power is spread across the occupied NR bandwidth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Significance:</a:t>
            </a:r>
            <a:br>
              <a:rPr lang="en-US" sz="1800" dirty="0"/>
            </a:br>
            <a:r>
              <a:rPr lang="en-US" sz="1800" dirty="0"/>
              <a:t>This confirms the transmitter is occupying the correct </a:t>
            </a:r>
            <a:r>
              <a:rPr lang="en-US" sz="1800" b="1" dirty="0"/>
              <a:t>useful bandwidth</a:t>
            </a:r>
            <a:r>
              <a:rPr lang="en-US" sz="1800" dirty="0"/>
              <a:t> and your OFDM system is working properly.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13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E1CDC-B60A-7A11-0D6C-F7A7D1206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70" y="423513"/>
            <a:ext cx="10664791" cy="52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1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C1225-535F-DC55-0CA2-7EDFBD5883E8}"/>
              </a:ext>
            </a:extLst>
          </p:cNvPr>
          <p:cNvSpPr txBox="1"/>
          <p:nvPr/>
        </p:nvSpPr>
        <p:spPr>
          <a:xfrm>
            <a:off x="543017" y="443884"/>
            <a:ext cx="11105965" cy="536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figure shows </a:t>
            </a:r>
            <a:r>
              <a:rPr lang="en-US" sz="1800" b="1" dirty="0"/>
              <a:t>how different physical channels are scheduled inside a Bandwidth Part (BWP)</a:t>
            </a:r>
            <a:r>
              <a:rPr lang="en-US" sz="1800" dirty="0"/>
              <a:t> across multiple slots. It’s a time–frequency visualization, but at a much coarser level than the full RE grid.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X-axis:</a:t>
            </a:r>
            <a:r>
              <a:rPr lang="en-US" sz="1800" dirty="0"/>
              <a:t> Slots (time)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Y-axis:</a:t>
            </a:r>
            <a:r>
              <a:rPr lang="en-US" sz="1800" dirty="0"/>
              <a:t> Carrier Resource Blocks (frequency)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Colored blocks:</a:t>
            </a:r>
            <a:r>
              <a:rPr lang="en-US" sz="1800" dirty="0"/>
              <a:t> Physical channels/signals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Empty cyan region:</a:t>
            </a:r>
            <a:r>
              <a:rPr lang="en-US" sz="1800" dirty="0"/>
              <a:t> Unused BWP spectrum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Colored blocks</a:t>
            </a:r>
            <a:r>
              <a:rPr lang="en-US" sz="1800" dirty="0"/>
              <a:t> mark the presence of actual NR physical channels (PDCCH, PDSCH, CORESET, SS burst, CSI-RS).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These blocks show exactly when and where these channels are active in the BWP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Most of the BWP is empty</a:t>
            </a:r>
            <a:r>
              <a:rPr lang="en-US" sz="1800" dirty="0"/>
              <a:t>, meaning the </a:t>
            </a:r>
            <a:r>
              <a:rPr lang="en-US" sz="1800" dirty="0" err="1"/>
              <a:t>gNB</a:t>
            </a:r>
            <a:r>
              <a:rPr lang="en-US" sz="1800" dirty="0"/>
              <a:t> is not transmitting in those RBs.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760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09749-C9BF-F2FD-4D28-B581C11FB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3" y="462012"/>
            <a:ext cx="11107553" cy="56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33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791FC-FFD6-F4AF-6770-F7BAD0394C70}"/>
              </a:ext>
            </a:extLst>
          </p:cNvPr>
          <p:cNvSpPr txBox="1"/>
          <p:nvPr/>
        </p:nvSpPr>
        <p:spPr>
          <a:xfrm>
            <a:off x="470517" y="639192"/>
            <a:ext cx="11185864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plot shows the </a:t>
            </a:r>
            <a:r>
              <a:rPr lang="en-US" sz="1800" b="1" dirty="0"/>
              <a:t>frequency-domain layout</a:t>
            </a:r>
            <a:r>
              <a:rPr lang="en-US" sz="1800" dirty="0"/>
              <a:t> of a 5G NR carrier with: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Channel bandwidth:</a:t>
            </a:r>
            <a:r>
              <a:rPr lang="en-US" sz="1800" dirty="0"/>
              <a:t> 50 MHz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NRB:</a:t>
            </a:r>
            <a:r>
              <a:rPr lang="en-US" sz="1800" dirty="0"/>
              <a:t> 270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SCS:</a:t>
            </a:r>
            <a:r>
              <a:rPr lang="en-US" sz="1800" dirty="0"/>
              <a:t> 15 kHz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is essentially the “spectrum map” of every subcarrier inside the NR channel.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Each vertical orange line is </a:t>
            </a:r>
            <a:r>
              <a:rPr lang="en-US" sz="1800" b="1" dirty="0"/>
              <a:t>one subcarrier</a:t>
            </a:r>
            <a:r>
              <a:rPr lang="en-US" sz="18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All these subcarriers together form </a:t>
            </a:r>
            <a:r>
              <a:rPr lang="en-US" sz="1800" b="1" dirty="0"/>
              <a:t>270 RBs × 12 subcarriers per RB = 3240 active subcarriers</a:t>
            </a:r>
            <a:r>
              <a:rPr lang="en-US" sz="18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is the </a:t>
            </a:r>
            <a:r>
              <a:rPr lang="en-US" sz="1800" b="1" dirty="0"/>
              <a:t>actual OFDM grid</a:t>
            </a:r>
            <a:r>
              <a:rPr lang="en-US" sz="1800" dirty="0"/>
              <a:t> where PDCCH, PDSCH, PBCH, DMRS, CSI-RS, etc., will be placed.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89510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32A572DE-2A4F-6512-F824-DA417040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7687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907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229D-220C-3847-E587-7B924F28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 Black" panose="020B0A04020102020204" pitchFamily="34" charset="0"/>
              </a:rPr>
              <a:t>Conclusion: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C113-9501-6D7E-D6A8-5B0B283F9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In conclusion, this simulation study provided comprehensive insights into 5G NR downlink performance and efficiency. By modeling end-to-end PDSCH transmission under varied configurations, it demonstrated how resource allocation and waveform parameters affect throughput, spectral utilization, and power requirements.</a:t>
            </a:r>
          </a:p>
          <a:p>
            <a:r>
              <a:rPr lang="en-IN" sz="2000" dirty="0">
                <a:latin typeface="Aptos Display" panose="020B0004020202020204" pitchFamily="34" charset="0"/>
              </a:rPr>
              <a:t>The results validate that 5G NR’s physical-layer innovations (flexible CP-OFDM numerology, multi-BWP support, advanced channel coding, etc.) yield the anticipated improvements in performance and flexibility</a:t>
            </a:r>
            <a:r>
              <a:rPr lang="en-US" sz="2000" dirty="0">
                <a:latin typeface="Aptos Display" panose="020B0004020202020204" pitchFamily="34" charset="0"/>
              </a:rPr>
              <a:t>.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Importantly, the project underscores that accurate link-level simulation is a powerful tool for understanding 5G NR behavior and guiding design choices.</a:t>
            </a:r>
            <a:endParaRPr lang="en-IN" sz="2000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04D2C-BED2-4659-E0AC-E6B504E16B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57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D853A-A414-279F-639C-48A965E913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930BD-8A17-7785-02C2-EE1B97956C64}"/>
              </a:ext>
            </a:extLst>
          </p:cNvPr>
          <p:cNvSpPr txBox="1"/>
          <p:nvPr/>
        </p:nvSpPr>
        <p:spPr>
          <a:xfrm>
            <a:off x="924232" y="117988"/>
            <a:ext cx="498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References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14423-88C6-7D29-FFB4-27CDC38C23A5}"/>
              </a:ext>
            </a:extLst>
          </p:cNvPr>
          <p:cNvSpPr txBox="1"/>
          <p:nvPr/>
        </p:nvSpPr>
        <p:spPr>
          <a:xfrm>
            <a:off x="924232" y="1044330"/>
            <a:ext cx="991091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1]  Lagen, S.,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Wanuga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Elkotby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H., Goyal, S.,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Patriciello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 and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Giupponi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L., 2020, June. New radio physical layer abstraction for system-level simulations of 5G networks.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ICC 2020-2020 IEEE International Conference on Communications (ICC)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1-7). IEEE.</a:t>
            </a:r>
            <a:endParaRPr lang="en-US" sz="1600" dirty="0"/>
          </a:p>
          <a:p>
            <a:r>
              <a:rPr lang="en-US" sz="1600" dirty="0">
                <a:hlinkClick r:id="rId2"/>
              </a:rPr>
              <a:t>https://ieeexplore.ieee.org/abstract/document/9149444/?casa_token=Fe-FZp4lSyQAAAAA:d1sBWKAv31QKu-x2Yvx0bwhMetyZGJokaYAmwTPhK-bwI6rHIRzX7s95VFuCp3OEgmGY67XmZOA</a:t>
            </a:r>
            <a:endParaRPr lang="en-US" sz="1600" dirty="0"/>
          </a:p>
          <a:p>
            <a:endParaRPr lang="en-US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2]  Zaidi, A.,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Athley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F.,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Medbo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Gustavsson, U.,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Durisi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 and Chen, X., 2018.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5G Physical Layer: principles, models and technology components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Academic Press.</a:t>
            </a:r>
            <a:endParaRPr lang="en-US" sz="1600" dirty="0"/>
          </a:p>
          <a:p>
            <a:r>
              <a:rPr lang="en-US" sz="1600" dirty="0">
                <a:hlinkClick r:id="rId3"/>
              </a:rPr>
              <a:t>https://books.google.com/books?hl=en&amp;lr=&amp;id=mtJKDwAAQBAJ&amp;oi=fnd&amp;pg=PP1&amp;dq=5g+NR+Physical+Layer+Simulation&amp;ots=RNmntP0Koq&amp;sig=bjbOmHwIA_GLEyWqGCjaEOIg0wU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3]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Morais, D.H., 2024. 5G NR overview and physical layer.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Key 5g/5g-advanced physical layer technologies: Enabling mobile and fixed wireless access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233-321). Cham: Springer International Publishing.</a:t>
            </a:r>
          </a:p>
          <a:p>
            <a:r>
              <a:rPr lang="en-US" sz="1600" dirty="0"/>
              <a:t>https://link.springer.com/chapter/10.1007/978-3-031-57426-9_10</a:t>
            </a:r>
          </a:p>
        </p:txBody>
      </p:sp>
    </p:spTree>
    <p:extLst>
      <p:ext uri="{BB962C8B-B14F-4D97-AF65-F5344CB8AC3E}">
        <p14:creationId xmlns:p14="http://schemas.microsoft.com/office/powerpoint/2010/main" val="3143257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4644</TotalTime>
  <Words>1837</Words>
  <Application>Microsoft Office PowerPoint</Application>
  <PresentationFormat>Widescreen</PresentationFormat>
  <Paragraphs>177</Paragraphs>
  <Slides>29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Book Antiqua</vt:lpstr>
      <vt:lpstr>Arial Black</vt:lpstr>
      <vt:lpstr>Montserrat Medium</vt:lpstr>
      <vt:lpstr>Arial</vt:lpstr>
      <vt:lpstr>Aharoni</vt:lpstr>
      <vt:lpstr>Plus Jakarta Sans</vt:lpstr>
      <vt:lpstr>Montserrat</vt:lpstr>
      <vt:lpstr>Verdana</vt:lpstr>
      <vt:lpstr>Wingdings</vt:lpstr>
      <vt:lpstr>Aptos Display</vt:lpstr>
      <vt:lpstr>Calibri</vt:lpstr>
      <vt:lpstr>Open Sans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5G NR parameters:</vt:lpstr>
      <vt:lpstr>Build channel propagation models:</vt:lpstr>
      <vt:lpstr>Implementing the transmitter chain:</vt:lpstr>
      <vt:lpstr>Pass through the channel:</vt:lpstr>
      <vt:lpstr>Implementing the receiver chain</vt:lpstr>
      <vt:lpstr>Evaluating system performance and Important Prerequisites / Libraries: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hemanth p</cp:lastModifiedBy>
  <cp:revision>37</cp:revision>
  <dcterms:created xsi:type="dcterms:W3CDTF">2022-05-23T07:15:42Z</dcterms:created>
  <dcterms:modified xsi:type="dcterms:W3CDTF">2025-11-20T04:53:47Z</dcterms:modified>
</cp:coreProperties>
</file>